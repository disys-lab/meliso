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65" r:id="rId3"/>
    <p:sldId id="257" r:id="rId4"/>
    <p:sldId id="267" r:id="rId5"/>
    <p:sldId id="259" r:id="rId6"/>
    <p:sldId id="260" r:id="rId7"/>
    <p:sldId id="262" r:id="rId8"/>
    <p:sldId id="261" r:id="rId9"/>
    <p:sldId id="258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84" userDrawn="1">
          <p15:clr>
            <a:srgbClr val="A4A3A4"/>
          </p15:clr>
        </p15:guide>
        <p15:guide id="2" pos="3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666A"/>
    <a:srgbClr val="FA6400"/>
    <a:srgbClr val="FB6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86FCFF-8752-4976-86E7-4BDA6065866B}" v="12" dt="2025-04-03T19:15:18.4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88"/>
    <p:restoredTop sz="94694"/>
  </p:normalViewPr>
  <p:slideViewPr>
    <p:cSldViewPr snapToGrid="0" snapToObjects="1">
      <p:cViewPr varScale="1">
        <p:scale>
          <a:sx n="115" d="100"/>
          <a:sy n="115" d="100"/>
        </p:scale>
        <p:origin x="776" y="208"/>
      </p:cViewPr>
      <p:guideLst>
        <p:guide orient="horz" pos="3384"/>
        <p:guide pos="3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ang-Nguyen Vo-Huynh" userId="6a1b2bcfbbb34c0c" providerId="LiveId" clId="{6486FCFF-8752-4976-86E7-4BDA6065866B}"/>
    <pc:docChg chg="undo custSel addSld modSld">
      <pc:chgData name="Quang-Nguyen Vo-Huynh" userId="6a1b2bcfbbb34c0c" providerId="LiveId" clId="{6486FCFF-8752-4976-86E7-4BDA6065866B}" dt="2025-04-03T19:16:50.096" v="775" actId="5793"/>
      <pc:docMkLst>
        <pc:docMk/>
      </pc:docMkLst>
      <pc:sldChg chg="addSp delSp modSp mod">
        <pc:chgData name="Quang-Nguyen Vo-Huynh" userId="6a1b2bcfbbb34c0c" providerId="LiveId" clId="{6486FCFF-8752-4976-86E7-4BDA6065866B}" dt="2025-04-03T19:10:36.933" v="541" actId="14100"/>
        <pc:sldMkLst>
          <pc:docMk/>
          <pc:sldMk cId="1045490457" sldId="257"/>
        </pc:sldMkLst>
        <pc:spChg chg="add del mod">
          <ac:chgData name="Quang-Nguyen Vo-Huynh" userId="6a1b2bcfbbb34c0c" providerId="LiveId" clId="{6486FCFF-8752-4976-86E7-4BDA6065866B}" dt="2025-04-03T18:55:52.507" v="36" actId="478"/>
          <ac:spMkLst>
            <pc:docMk/>
            <pc:sldMk cId="1045490457" sldId="257"/>
            <ac:spMk id="4" creationId="{EEA810A0-6B0E-4732-AB76-997103DADB4A}"/>
          </ac:spMkLst>
        </pc:spChg>
        <pc:spChg chg="add mod">
          <ac:chgData name="Quang-Nguyen Vo-Huynh" userId="6a1b2bcfbbb34c0c" providerId="LiveId" clId="{6486FCFF-8752-4976-86E7-4BDA6065866B}" dt="2025-04-03T18:56:17.870" v="45" actId="1035"/>
          <ac:spMkLst>
            <pc:docMk/>
            <pc:sldMk cId="1045490457" sldId="257"/>
            <ac:spMk id="5" creationId="{5107C4F1-D4C6-FCE2-29C7-9A48E4A8DB7C}"/>
          </ac:spMkLst>
        </pc:spChg>
        <pc:spChg chg="add mod">
          <ac:chgData name="Quang-Nguyen Vo-Huynh" userId="6a1b2bcfbbb34c0c" providerId="LiveId" clId="{6486FCFF-8752-4976-86E7-4BDA6065866B}" dt="2025-04-03T18:56:34.691" v="53" actId="14100"/>
          <ac:spMkLst>
            <pc:docMk/>
            <pc:sldMk cId="1045490457" sldId="257"/>
            <ac:spMk id="6" creationId="{38A8E737-8A49-12A6-5C5E-716EAB874168}"/>
          </ac:spMkLst>
        </pc:spChg>
        <pc:spChg chg="add mod">
          <ac:chgData name="Quang-Nguyen Vo-Huynh" userId="6a1b2bcfbbb34c0c" providerId="LiveId" clId="{6486FCFF-8752-4976-86E7-4BDA6065866B}" dt="2025-04-03T19:07:49.032" v="272" actId="14100"/>
          <ac:spMkLst>
            <pc:docMk/>
            <pc:sldMk cId="1045490457" sldId="257"/>
            <ac:spMk id="8" creationId="{80820429-15C0-28A3-9B19-1F9BF67EF0F5}"/>
          </ac:spMkLst>
        </pc:spChg>
        <pc:spChg chg="mod">
          <ac:chgData name="Quang-Nguyen Vo-Huynh" userId="6a1b2bcfbbb34c0c" providerId="LiveId" clId="{6486FCFF-8752-4976-86E7-4BDA6065866B}" dt="2025-04-03T18:55:03.804" v="29" actId="1076"/>
          <ac:spMkLst>
            <pc:docMk/>
            <pc:sldMk cId="1045490457" sldId="257"/>
            <ac:spMk id="10" creationId="{9B71DA5C-13E2-A149-B419-F04D98AC3511}"/>
          </ac:spMkLst>
        </pc:spChg>
        <pc:spChg chg="mod">
          <ac:chgData name="Quang-Nguyen Vo-Huynh" userId="6a1b2bcfbbb34c0c" providerId="LiveId" clId="{6486FCFF-8752-4976-86E7-4BDA6065866B}" dt="2025-04-03T18:55:00.501" v="28" actId="1076"/>
          <ac:spMkLst>
            <pc:docMk/>
            <pc:sldMk cId="1045490457" sldId="257"/>
            <ac:spMk id="11" creationId="{DD074894-0E99-894A-9B1A-0D7C79F5F6D7}"/>
          </ac:spMkLst>
        </pc:spChg>
        <pc:spChg chg="mod">
          <ac:chgData name="Quang-Nguyen Vo-Huynh" userId="6a1b2bcfbbb34c0c" providerId="LiveId" clId="{6486FCFF-8752-4976-86E7-4BDA6065866B}" dt="2025-04-03T19:09:00.950" v="477" actId="20577"/>
          <ac:spMkLst>
            <pc:docMk/>
            <pc:sldMk cId="1045490457" sldId="257"/>
            <ac:spMk id="12" creationId="{B0E297CD-5450-7441-A033-60CDC02876B0}"/>
          </ac:spMkLst>
        </pc:spChg>
        <pc:spChg chg="add mod">
          <ac:chgData name="Quang-Nguyen Vo-Huynh" userId="6a1b2bcfbbb34c0c" providerId="LiveId" clId="{6486FCFF-8752-4976-86E7-4BDA6065866B}" dt="2025-04-03T19:06:59.815" v="267" actId="1076"/>
          <ac:spMkLst>
            <pc:docMk/>
            <pc:sldMk cId="1045490457" sldId="257"/>
            <ac:spMk id="13" creationId="{F64AC631-6E96-BDA2-0FE0-05BC812DD181}"/>
          </ac:spMkLst>
        </pc:spChg>
        <pc:spChg chg="add mod">
          <ac:chgData name="Quang-Nguyen Vo-Huynh" userId="6a1b2bcfbbb34c0c" providerId="LiveId" clId="{6486FCFF-8752-4976-86E7-4BDA6065866B}" dt="2025-04-03T19:10:36.933" v="541" actId="14100"/>
          <ac:spMkLst>
            <pc:docMk/>
            <pc:sldMk cId="1045490457" sldId="257"/>
            <ac:spMk id="18" creationId="{7125C2F2-3D54-0341-6B37-C4848752A90E}"/>
          </ac:spMkLst>
        </pc:spChg>
        <pc:picChg chg="add mod">
          <ac:chgData name="Quang-Nguyen Vo-Huynh" userId="6a1b2bcfbbb34c0c" providerId="LiveId" clId="{6486FCFF-8752-4976-86E7-4BDA6065866B}" dt="2025-04-03T18:55:16.612" v="32" actId="14100"/>
          <ac:picMkLst>
            <pc:docMk/>
            <pc:sldMk cId="1045490457" sldId="257"/>
            <ac:picMk id="3" creationId="{18B44170-16CA-B15C-93B3-6264D8ECB5C6}"/>
          </ac:picMkLst>
        </pc:picChg>
        <pc:cxnChg chg="add mod">
          <ac:chgData name="Quang-Nguyen Vo-Huynh" userId="6a1b2bcfbbb34c0c" providerId="LiveId" clId="{6486FCFF-8752-4976-86E7-4BDA6065866B}" dt="2025-04-03T19:07:13.969" v="269" actId="208"/>
          <ac:cxnSpMkLst>
            <pc:docMk/>
            <pc:sldMk cId="1045490457" sldId="257"/>
            <ac:cxnSpMk id="15" creationId="{0FBB2B1F-F5CE-4F23-BDB2-58AE3C0CA2A1}"/>
          </ac:cxnSpMkLst>
        </pc:cxnChg>
        <pc:cxnChg chg="add mod">
          <ac:chgData name="Quang-Nguyen Vo-Huynh" userId="6a1b2bcfbbb34c0c" providerId="LiveId" clId="{6486FCFF-8752-4976-86E7-4BDA6065866B}" dt="2025-04-03T19:07:28.785" v="271" actId="208"/>
          <ac:cxnSpMkLst>
            <pc:docMk/>
            <pc:sldMk cId="1045490457" sldId="257"/>
            <ac:cxnSpMk id="17" creationId="{54BFC188-5E64-7823-A8C3-C614F4729CAE}"/>
          </ac:cxnSpMkLst>
        </pc:cxnChg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1663129815" sldId="258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1779087438" sldId="259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1304093165" sldId="260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756621199" sldId="261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3019877112" sldId="262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3546150263" sldId="263"/>
        </pc:sldMkLst>
      </pc:sldChg>
      <pc:sldChg chg="addSp delSp modSp mod">
        <pc:chgData name="Quang-Nguyen Vo-Huynh" userId="6a1b2bcfbbb34c0c" providerId="LiveId" clId="{6486FCFF-8752-4976-86E7-4BDA6065866B}" dt="2025-04-03T19:11:27.349" v="573" actId="1076"/>
        <pc:sldMkLst>
          <pc:docMk/>
          <pc:sldMk cId="1288842434" sldId="266"/>
        </pc:sldMkLst>
        <pc:spChg chg="add mod">
          <ac:chgData name="Quang-Nguyen Vo-Huynh" userId="6a1b2bcfbbb34c0c" providerId="LiveId" clId="{6486FCFF-8752-4976-86E7-4BDA6065866B}" dt="2025-04-03T19:11:15.758" v="571"/>
          <ac:spMkLst>
            <pc:docMk/>
            <pc:sldMk cId="1288842434" sldId="266"/>
            <ac:spMk id="2" creationId="{B5541AB6-E9CA-F07D-355C-175DE376731B}"/>
          </ac:spMkLst>
        </pc:spChg>
        <pc:spChg chg="add mod">
          <ac:chgData name="Quang-Nguyen Vo-Huynh" userId="6a1b2bcfbbb34c0c" providerId="LiveId" clId="{6486FCFF-8752-4976-86E7-4BDA6065866B}" dt="2025-04-03T19:11:27.349" v="573" actId="1076"/>
          <ac:spMkLst>
            <pc:docMk/>
            <pc:sldMk cId="1288842434" sldId="266"/>
            <ac:spMk id="3" creationId="{C38B8077-CE6A-5385-81E5-F52A04C87B83}"/>
          </ac:spMkLst>
        </pc:spChg>
        <pc:spChg chg="del mod">
          <ac:chgData name="Quang-Nguyen Vo-Huynh" userId="6a1b2bcfbbb34c0c" providerId="LiveId" clId="{6486FCFF-8752-4976-86E7-4BDA6065866B}" dt="2025-04-03T19:11:15.447" v="570" actId="478"/>
          <ac:spMkLst>
            <pc:docMk/>
            <pc:sldMk cId="1288842434" sldId="266"/>
            <ac:spMk id="6" creationId="{1851FAA6-B02C-0841-8093-DB5B5E2D753C}"/>
          </ac:spMkLst>
        </pc:spChg>
      </pc:sldChg>
      <pc:sldChg chg="addSp delSp modSp add mod">
        <pc:chgData name="Quang-Nguyen Vo-Huynh" userId="6a1b2bcfbbb34c0c" providerId="LiveId" clId="{6486FCFF-8752-4976-86E7-4BDA6065866B}" dt="2025-04-03T19:16:50.096" v="775" actId="5793"/>
        <pc:sldMkLst>
          <pc:docMk/>
          <pc:sldMk cId="602613557" sldId="267"/>
        </pc:sldMkLst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5" creationId="{7AE297E6-6A52-F35E-EC49-7910EE6175FB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6" creationId="{8AD03BB7-B317-2B6E-ED24-A049EE6AC579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8" creationId="{3FA44690-92A7-D66A-22E9-FB55FCD14376}"/>
          </ac:spMkLst>
        </pc:spChg>
        <pc:spChg chg="mod">
          <ac:chgData name="Quang-Nguyen Vo-Huynh" userId="6a1b2bcfbbb34c0c" providerId="LiveId" clId="{6486FCFF-8752-4976-86E7-4BDA6065866B}" dt="2025-04-03T19:09:37.354" v="529" actId="20577"/>
          <ac:spMkLst>
            <pc:docMk/>
            <pc:sldMk cId="602613557" sldId="267"/>
            <ac:spMk id="11" creationId="{CEAB13F5-595C-8253-C197-5B1649ACF2E3}"/>
          </ac:spMkLst>
        </pc:spChg>
        <pc:spChg chg="add del mod">
          <ac:chgData name="Quang-Nguyen Vo-Huynh" userId="6a1b2bcfbbb34c0c" providerId="LiveId" clId="{6486FCFF-8752-4976-86E7-4BDA6065866B}" dt="2025-04-03T19:16:50.096" v="775" actId="5793"/>
          <ac:spMkLst>
            <pc:docMk/>
            <pc:sldMk cId="602613557" sldId="267"/>
            <ac:spMk id="12" creationId="{0068D70A-C8DB-EDA1-501E-9F46F17FC28D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13" creationId="{480E0BC6-C543-423F-5D82-4D0D0242CBF9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18" creationId="{01E9ECFE-B656-A991-E9D1-9E67EF01F3A9}"/>
          </ac:spMkLst>
        </pc:spChg>
        <pc:picChg chg="add del">
          <ac:chgData name="Quang-Nguyen Vo-Huynh" userId="6a1b2bcfbbb34c0c" providerId="LiveId" clId="{6486FCFF-8752-4976-86E7-4BDA6065866B}" dt="2025-04-03T19:09:56.506" v="536" actId="478"/>
          <ac:picMkLst>
            <pc:docMk/>
            <pc:sldMk cId="602613557" sldId="267"/>
            <ac:picMk id="3" creationId="{44B00FAD-AD31-5183-6AFF-920245E63F84}"/>
          </ac:picMkLst>
        </pc:picChg>
        <pc:cxnChg chg="add del mod">
          <ac:chgData name="Quang-Nguyen Vo-Huynh" userId="6a1b2bcfbbb34c0c" providerId="LiveId" clId="{6486FCFF-8752-4976-86E7-4BDA6065866B}" dt="2025-04-03T19:09:56.506" v="536" actId="478"/>
          <ac:cxnSpMkLst>
            <pc:docMk/>
            <pc:sldMk cId="602613557" sldId="267"/>
            <ac:cxnSpMk id="15" creationId="{8F386B0F-ADB2-7A38-4977-44267ECDDB31}"/>
          </ac:cxnSpMkLst>
        </pc:cxnChg>
        <pc:cxnChg chg="add del mod">
          <ac:chgData name="Quang-Nguyen Vo-Huynh" userId="6a1b2bcfbbb34c0c" providerId="LiveId" clId="{6486FCFF-8752-4976-86E7-4BDA6065866B}" dt="2025-04-03T19:09:56.506" v="536" actId="478"/>
          <ac:cxnSpMkLst>
            <pc:docMk/>
            <pc:sldMk cId="602613557" sldId="267"/>
            <ac:cxnSpMk id="17" creationId="{7F19AB58-58AB-4C0F-8A98-82D9B9446C01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8BFFB-A540-6648-9625-4836B6231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73EC4-0299-014F-AB63-5613D710F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F94B0-DB87-5A47-AE2A-0E1D86F67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FB195-33B6-C54F-918A-7B248F91B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38E47-E1D2-464F-84C8-7CF125C7B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2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DAAAF-162B-764C-9165-99A039251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5F611-392F-DE4F-869D-D71D33C98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88EED-AC6C-364B-9B86-E7777D62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5717A-C572-9F4A-8C49-35876F4BA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F19E1-DD71-9048-A713-8333C81F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523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169D8-0C4B-4C49-954B-B50510DC9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C253F-263A-9548-A099-C98753CC6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C5EEA-A592-FA4D-B776-28DE6814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A7AD-6FAE-E047-B091-0E5E743A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A0334-B68E-0644-8F59-DB61E640E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925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7E8FA-CF49-3F41-A16F-3BCB18480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D15DF-683F-CA4F-B72E-077596B1A0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B0DF0-3BB7-4A45-AAED-0ED87981F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C2B11-07E0-AA49-8CAB-02F7E3B03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39DF7-CBF9-E74C-B379-C9291CD3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7A2C5-C891-D84D-9269-2CE5A7D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12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0516-810D-3146-A79C-F110832A9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71F2ED-DA19-0147-86CB-F00596637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AB8081-56DC-E84A-92B5-98898A06C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C6D4B9-57CA-A545-B68A-D59E610813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29C2E1-3752-6148-A1AE-8BD5EED321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3DC856-1C30-9A45-A8B9-2CBD4963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50F0AE-49BE-2041-8FD8-B825604CD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92C59-772A-6242-81EB-4F2695D4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3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B5D2-BF11-1047-9083-119184BF7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5F0279-DC95-1944-A206-6B077F0AA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981DB-E2D7-EA48-82BE-628C37BED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B7645-C9C2-1E48-A9C3-BFF2634EB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097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9D316-3D33-5145-854C-38AAD7F30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08E516-C2C9-9148-83F9-7F7F64469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85027-4659-ED4A-AEC6-1B447F656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57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13B70-3B6B-7C46-932B-D82028471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4202-47F6-374E-B56D-13004790B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41383-C902-B745-815D-A6E6B8C6A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057A3-65A5-ED42-98E3-7340343EF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BEA6D-495E-754E-9B75-49BF9C706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1FE09-6AC0-B648-BB6F-7210AA6C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299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5CC57-A14E-2145-A748-1258E07D5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9B45EF-9D37-2641-927E-67A6D4CF46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91C982-4DDE-BC40-9231-AEAFF2CC45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DD25F-1CC5-814E-A0F3-7D4E58162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E9E17A-3562-B641-B9A8-6360810DA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FDCFE-5830-8541-81C5-9937B204E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131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39E2-8162-854A-9785-5C0F887B1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A9A83B-A163-C845-9E2F-242B3E72F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71843-8078-8E4F-8AC3-9CABB3CE7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168B9-963D-5547-88F3-E66B21026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C0DBA-6DFD-EC49-89EB-D72108C3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972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CA7D84-2420-C449-A619-DE23F7AE49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89566-ACC1-2E48-8FA3-7D191784C5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F448E-F29F-884C-AD6B-D96AC7BCF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FAC67-CC10-C84A-A4CE-4B65A7F96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46715D-9921-8940-8B6B-19FEC38DC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04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27420-8314-BA4E-BA14-76D22FE5E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39A44-6E65-7546-A1B9-B02089564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23C7D-B11C-8E43-A742-35D7D77F5333}" type="datetimeFigureOut">
              <a:rPr lang="en-US" smtClean="0"/>
              <a:t>4/3/25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4D054-124A-2040-A81D-AB921CEAC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4328C7BD-97E0-8746-BE4A-081D2E08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06304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81A51A-3168-024C-AD87-56547AE479AD}"/>
              </a:ext>
            </a:extLst>
          </p:cNvPr>
          <p:cNvSpPr txBox="1"/>
          <p:nvPr/>
        </p:nvSpPr>
        <p:spPr>
          <a:xfrm>
            <a:off x="3423424" y="1635256"/>
            <a:ext cx="836633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FjallaOne" panose="02000506040000020004" pitchFamily="2" charset="77"/>
              </a:rPr>
              <a:t>Investigation of MELISO vs GPU for First-order Optimization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541AB6-E9CA-F07D-355C-175DE376731B}"/>
              </a:ext>
            </a:extLst>
          </p:cNvPr>
          <p:cNvSpPr txBox="1"/>
          <p:nvPr/>
        </p:nvSpPr>
        <p:spPr>
          <a:xfrm>
            <a:off x="3605646" y="3429000"/>
            <a:ext cx="59742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Huynh Q. N. Vo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School of Industrial Engineering and Management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Oklahoma State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8B8077-CE6A-5385-81E5-F52A04C87B83}"/>
              </a:ext>
            </a:extLst>
          </p:cNvPr>
          <p:cNvSpPr txBox="1"/>
          <p:nvPr/>
        </p:nvSpPr>
        <p:spPr>
          <a:xfrm>
            <a:off x="3605646" y="4259997"/>
            <a:ext cx="5974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Paritosh Ramanan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School of Industrial Engineering and Management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Oklahoma State University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D81C0-9210-1D09-B64C-1577EF7FA558}"/>
              </a:ext>
            </a:extLst>
          </p:cNvPr>
          <p:cNvSpPr txBox="1"/>
          <p:nvPr/>
        </p:nvSpPr>
        <p:spPr>
          <a:xfrm>
            <a:off x="3605646" y="5090994"/>
            <a:ext cx="5974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Murat Yildirim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School of Industrial Engineering and Management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Wayne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1288842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DD93D6E-F700-FB4D-8333-A087C39ACBA6}"/>
              </a:ext>
            </a:extLst>
          </p:cNvPr>
          <p:cNvSpPr txBox="1"/>
          <p:nvPr/>
        </p:nvSpPr>
        <p:spPr>
          <a:xfrm>
            <a:off x="584026" y="2898085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 dirty="0">
                <a:solidFill>
                  <a:srgbClr val="FB6400"/>
                </a:solidFill>
                <a:latin typeface="FjallaOne" panose="02000506040000020004" pitchFamily="2" charset="77"/>
              </a:rPr>
              <a:t>Preliminary Results</a:t>
            </a:r>
          </a:p>
        </p:txBody>
      </p:sp>
    </p:spTree>
    <p:extLst>
      <p:ext uri="{BB962C8B-B14F-4D97-AF65-F5344CB8AC3E}">
        <p14:creationId xmlns:p14="http://schemas.microsoft.com/office/powerpoint/2010/main" val="4050679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B71DA5C-13E2-A149-B419-F04D98AC3511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/>
              <p:nvPr/>
            </p:nvSpPr>
            <p:spPr>
              <a:xfrm>
                <a:off x="567836" y="1120283"/>
                <a:ext cx="11027600" cy="351558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Most scientific applications are iterative in nature (e.g., Krylov Subspace Methods, PDHG, etc.)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The performance of these applications are strongly correlated to the 2-norm of the involved matrices, denoted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The Power Iteration (PI) method is a simple tool to provide a good estimation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Gotham Narrow Book" pitchFamily="2" charset="0"/>
                  </a:rPr>
                  <a:t>, which equals to the dominant eigenvalue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en-US" dirty="0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Algorithm: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836" y="1120283"/>
                <a:ext cx="11027600" cy="3515581"/>
              </a:xfrm>
              <a:prstGeom prst="rect">
                <a:avLst/>
              </a:prstGeom>
              <a:blipFill>
                <a:blip r:embed="rId3"/>
                <a:stretch>
                  <a:fillRect l="-332" t="-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18B44170-16CA-B15C-93B3-6264D8ECB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64" y="3257415"/>
            <a:ext cx="7431548" cy="248030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07C4F1-D4C6-FCE2-29C7-9A48E4A8DB7C}"/>
              </a:ext>
            </a:extLst>
          </p:cNvPr>
          <p:cNvSpPr/>
          <p:nvPr/>
        </p:nvSpPr>
        <p:spPr>
          <a:xfrm>
            <a:off x="1621308" y="4259580"/>
            <a:ext cx="533400" cy="259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A8E737-8A49-12A6-5C5E-716EAB874168}"/>
              </a:ext>
            </a:extLst>
          </p:cNvPr>
          <p:cNvSpPr/>
          <p:nvPr/>
        </p:nvSpPr>
        <p:spPr>
          <a:xfrm>
            <a:off x="1762584" y="4701540"/>
            <a:ext cx="607236" cy="259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820429-15C0-28A3-9B19-1F9BF67EF0F5}"/>
              </a:ext>
            </a:extLst>
          </p:cNvPr>
          <p:cNvSpPr txBox="1"/>
          <p:nvPr/>
        </p:nvSpPr>
        <p:spPr>
          <a:xfrm>
            <a:off x="596563" y="5981623"/>
            <a:ext cx="66170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Gotham Narrow Book" pitchFamily="2" charset="0"/>
              </a:rPr>
              <a:t>Reference: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latin typeface="Gotham Narrow Book" pitchFamily="2" charset="0"/>
              </a:rPr>
              <a:t>Trefethen, Bau III (2022). Numerical Linear Algebra - 25th Anniversary Edition, Chapter 27.</a:t>
            </a:r>
          </a:p>
          <a:p>
            <a:pPr marL="228600" indent="-228600">
              <a:buFont typeface="+mj-lt"/>
              <a:buAutoNum type="arabicPeriod"/>
            </a:pPr>
            <a:r>
              <a:rPr lang="fr-FR" sz="1200" dirty="0" err="1">
                <a:latin typeface="Gotham Narrow Book" pitchFamily="2" charset="0"/>
              </a:rPr>
              <a:t>Golub</a:t>
            </a:r>
            <a:r>
              <a:rPr lang="fr-FR" sz="1200" dirty="0">
                <a:latin typeface="Gotham Narrow Book" pitchFamily="2" charset="0"/>
              </a:rPr>
              <a:t>, Van Loan (2013). Matrix Computations</a:t>
            </a:r>
            <a:r>
              <a:rPr lang="en-US" sz="1200" dirty="0">
                <a:latin typeface="Gotham Narrow Book" pitchFamily="2" charset="0"/>
              </a:rPr>
              <a:t>, Chapter 8.</a:t>
            </a:r>
          </a:p>
          <a:p>
            <a:pPr marL="228600" indent="-228600">
              <a:buFont typeface="+mj-lt"/>
              <a:buAutoNum type="arabicPeriod"/>
            </a:pPr>
            <a:endParaRPr lang="en-US" sz="1200" dirty="0">
              <a:latin typeface="Gotham Narrow Book" pitchFamily="2" charset="0"/>
            </a:endParaRPr>
          </a:p>
          <a:p>
            <a:pPr marL="228600" indent="-228600">
              <a:buFont typeface="+mj-lt"/>
              <a:buAutoNum type="arabicPeriod"/>
            </a:pPr>
            <a:endParaRPr lang="en-US" sz="1200" dirty="0">
              <a:latin typeface="Gotham Narrow Book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4AC631-6E96-BDA2-0FE0-05BC812DD181}"/>
              </a:ext>
            </a:extLst>
          </p:cNvPr>
          <p:cNvSpPr txBox="1"/>
          <p:nvPr/>
        </p:nvSpPr>
        <p:spPr>
          <a:xfrm>
            <a:off x="5795492" y="4288493"/>
            <a:ext cx="31580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dirty="0">
                <a:latin typeface="Gotham Narrow Book" pitchFamily="2" charset="0"/>
              </a:rPr>
              <a:t>This method involves matrix-vector multiplication (MVM)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FBB2B1F-F5CE-4F23-BDB2-58AE3C0CA2A1}"/>
              </a:ext>
            </a:extLst>
          </p:cNvPr>
          <p:cNvCxnSpPr>
            <a:stCxn id="5" idx="3"/>
            <a:endCxn id="13" idx="1"/>
          </p:cNvCxnSpPr>
          <p:nvPr/>
        </p:nvCxnSpPr>
        <p:spPr>
          <a:xfrm>
            <a:off x="2154708" y="4389120"/>
            <a:ext cx="3640784" cy="22253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BFC188-5E64-7823-A8C3-C614F4729CAE}"/>
              </a:ext>
            </a:extLst>
          </p:cNvPr>
          <p:cNvCxnSpPr>
            <a:stCxn id="6" idx="3"/>
            <a:endCxn id="13" idx="1"/>
          </p:cNvCxnSpPr>
          <p:nvPr/>
        </p:nvCxnSpPr>
        <p:spPr>
          <a:xfrm flipV="1">
            <a:off x="2369820" y="4611659"/>
            <a:ext cx="3425672" cy="2194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125C2F2-3D54-0341-6B37-C4848752A90E}"/>
              </a:ext>
            </a:extLst>
          </p:cNvPr>
          <p:cNvSpPr txBox="1"/>
          <p:nvPr/>
        </p:nvSpPr>
        <p:spPr>
          <a:xfrm>
            <a:off x="7213601" y="5981623"/>
            <a:ext cx="4410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Gotham Narrow Book" pitchFamily="2" charset="0"/>
              </a:rPr>
              <a:t>Note: The original algorithm accommodates for squared matrices. For rectangular matrices, we used a modified version of PI.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45490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C081-E6C7-0F47-09A0-37DABF2E3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2F8641F-3E6E-D726-340F-1BA79C221B79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AB13F5-595C-8253-C197-5B1649ACF2E3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Methods &amp; Results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8D70A-C8DB-EDA1-501E-9F46F17FC28D}"/>
              </a:ext>
            </a:extLst>
          </p:cNvPr>
          <p:cNvSpPr txBox="1"/>
          <p:nvPr/>
        </p:nvSpPr>
        <p:spPr>
          <a:xfrm>
            <a:off x="567836" y="1120283"/>
            <a:ext cx="11027600" cy="351558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We implement the PI method on GPU and memristive devices (simulated by MELISO).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The memristive devices were made from 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TaO</a:t>
            </a:r>
            <a:r>
              <a:rPr lang="en-US" sz="1800" kern="100" baseline="-250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/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HfO</a:t>
            </a:r>
            <a:r>
              <a:rPr lang="en-US" sz="1800" kern="100" baseline="-250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We benchmarked on multiple matrices.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  Results: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261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amet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consectetur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adipiscing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elit</a:t>
            </a:r>
            <a:r>
              <a:rPr lang="en-US" dirty="0">
                <a:latin typeface="Gotham Narrow Book" pitchFamily="2" charset="0"/>
              </a:rPr>
              <a:t>, sed do </a:t>
            </a:r>
            <a:r>
              <a:rPr lang="en-US" dirty="0" err="1">
                <a:latin typeface="Gotham Narrow Book" pitchFamily="2" charset="0"/>
              </a:rPr>
              <a:t>eiusmod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tempor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incididunt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labore</a:t>
            </a:r>
            <a:r>
              <a:rPr lang="en-US" dirty="0">
                <a:latin typeface="Gotham Narrow Book" pitchFamily="2" charset="0"/>
              </a:rPr>
              <a:t> et dolore magna </a:t>
            </a:r>
            <a:r>
              <a:rPr lang="en-US" dirty="0" err="1">
                <a:latin typeface="Gotham Narrow Book" pitchFamily="2" charset="0"/>
              </a:rPr>
              <a:t>aliqua</a:t>
            </a:r>
            <a:r>
              <a:rPr lang="en-US" dirty="0">
                <a:latin typeface="Gotham Narrow Book" pitchFamily="2" charset="0"/>
              </a:rPr>
              <a:t>. Ut </a:t>
            </a:r>
            <a:r>
              <a:rPr lang="en-US" dirty="0" err="1">
                <a:latin typeface="Gotham Narrow Book" pitchFamily="2" charset="0"/>
              </a:rPr>
              <a:t>enim</a:t>
            </a:r>
            <a:r>
              <a:rPr lang="en-US" dirty="0">
                <a:latin typeface="Gotham Narrow Book" pitchFamily="2" charset="0"/>
              </a:rPr>
              <a:t> ad minim </a:t>
            </a:r>
            <a:r>
              <a:rPr lang="en-US" dirty="0" err="1">
                <a:latin typeface="Gotham Narrow Book" pitchFamily="2" charset="0"/>
              </a:rPr>
              <a:t>veniam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quis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nostrud</a:t>
            </a:r>
            <a:r>
              <a:rPr lang="en-US" dirty="0">
                <a:latin typeface="Gotham Narrow Book" pitchFamily="2" charset="0"/>
              </a:rPr>
              <a:t> exercitation </a:t>
            </a:r>
            <a:r>
              <a:rPr lang="en-US" dirty="0" err="1">
                <a:latin typeface="Gotham Narrow Book" pitchFamily="2" charset="0"/>
              </a:rPr>
              <a:t>ullamco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laboris</a:t>
            </a:r>
            <a:r>
              <a:rPr lang="en-US" dirty="0">
                <a:latin typeface="Gotham Narrow Book" pitchFamily="2" charset="0"/>
              </a:rPr>
              <a:t> nisi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aliquip</a:t>
            </a:r>
            <a:r>
              <a:rPr lang="en-US" dirty="0">
                <a:latin typeface="Gotham Narrow Book" pitchFamily="2" charset="0"/>
              </a:rPr>
              <a:t> ex </a:t>
            </a:r>
            <a:r>
              <a:rPr lang="en-US" dirty="0" err="1">
                <a:latin typeface="Gotham Narrow Book" pitchFamily="2" charset="0"/>
              </a:rPr>
              <a:t>ea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commodo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reprehenderit</a:t>
            </a:r>
            <a:r>
              <a:rPr lang="en-US" dirty="0">
                <a:latin typeface="Gotham Narrow Book" pitchFamily="2" charset="0"/>
              </a:rPr>
              <a:t> in </a:t>
            </a:r>
            <a:r>
              <a:rPr lang="en-US" dirty="0" err="1">
                <a:latin typeface="Gotham Narrow Book" pitchFamily="2" charset="0"/>
              </a:rPr>
              <a:t>voluptate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velit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esse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cillum</a:t>
            </a:r>
            <a:r>
              <a:rPr lang="en-US" dirty="0">
                <a:latin typeface="Gotham Narrow Book" pitchFamily="2" charset="0"/>
              </a:rPr>
              <a:t> dolore </a:t>
            </a:r>
            <a:r>
              <a:rPr lang="en-US" dirty="0" err="1">
                <a:latin typeface="Gotham Narrow Book" pitchFamily="2" charset="0"/>
              </a:rPr>
              <a:t>eu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fugiat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nulla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pariature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</p:txBody>
      </p:sp>
    </p:spTree>
    <p:extLst>
      <p:ext uri="{BB962C8B-B14F-4D97-AF65-F5344CB8AC3E}">
        <p14:creationId xmlns:p14="http://schemas.microsoft.com/office/powerpoint/2010/main" val="1779087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5107708" y="1115395"/>
            <a:ext cx="6503917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amet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consectetur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adipiscing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elit</a:t>
            </a:r>
            <a:r>
              <a:rPr lang="en-US" dirty="0">
                <a:latin typeface="Gotham Narrow Book" pitchFamily="2" charset="0"/>
              </a:rPr>
              <a:t>, sed do </a:t>
            </a:r>
            <a:r>
              <a:rPr lang="en-US" dirty="0" err="1">
                <a:latin typeface="Gotham Narrow Book" pitchFamily="2" charset="0"/>
              </a:rPr>
              <a:t>eiusmod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tempor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incididunt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labore</a:t>
            </a:r>
            <a:r>
              <a:rPr lang="en-US" dirty="0">
                <a:latin typeface="Gotham Narrow Book" pitchFamily="2" charset="0"/>
              </a:rPr>
              <a:t> et dolore magna </a:t>
            </a:r>
            <a:r>
              <a:rPr lang="en-US" dirty="0" err="1">
                <a:latin typeface="Gotham Narrow Book" pitchFamily="2" charset="0"/>
              </a:rPr>
              <a:t>aliqua</a:t>
            </a:r>
            <a:r>
              <a:rPr lang="en-US" dirty="0">
                <a:latin typeface="Gotham Narrow Book" pitchFamily="2" charset="0"/>
              </a:rPr>
              <a:t>. Ut </a:t>
            </a:r>
            <a:r>
              <a:rPr lang="en-US" dirty="0" err="1">
                <a:latin typeface="Gotham Narrow Book" pitchFamily="2" charset="0"/>
              </a:rPr>
              <a:t>enim</a:t>
            </a:r>
            <a:r>
              <a:rPr lang="en-US" dirty="0">
                <a:latin typeface="Gotham Narrow Book" pitchFamily="2" charset="0"/>
              </a:rPr>
              <a:t> ad minim </a:t>
            </a:r>
            <a:r>
              <a:rPr lang="en-US" dirty="0" err="1">
                <a:latin typeface="Gotham Narrow Book" pitchFamily="2" charset="0"/>
              </a:rPr>
              <a:t>veniam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quis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nostrud</a:t>
            </a:r>
            <a:r>
              <a:rPr lang="en-US" dirty="0">
                <a:latin typeface="Gotham Narrow Book" pitchFamily="2" charset="0"/>
              </a:rPr>
              <a:t> exercitation </a:t>
            </a:r>
            <a:r>
              <a:rPr lang="en-US" dirty="0" err="1">
                <a:latin typeface="Gotham Narrow Book" pitchFamily="2" charset="0"/>
              </a:rPr>
              <a:t>ullamco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laboris</a:t>
            </a:r>
            <a:r>
              <a:rPr lang="en-US" dirty="0">
                <a:latin typeface="Gotham Narrow Book" pitchFamily="2" charset="0"/>
              </a:rPr>
              <a:t> nisi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aliquip</a:t>
            </a:r>
            <a:r>
              <a:rPr lang="en-US" dirty="0">
                <a:latin typeface="Gotham Narrow Book" pitchFamily="2" charset="0"/>
              </a:rPr>
              <a:t> ex </a:t>
            </a:r>
            <a:r>
              <a:rPr lang="en-US" dirty="0" err="1">
                <a:latin typeface="Gotham Narrow Book" pitchFamily="2" charset="0"/>
              </a:rPr>
              <a:t>ea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commodo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reprehenderit</a:t>
            </a:r>
            <a:r>
              <a:rPr lang="en-US" dirty="0">
                <a:latin typeface="Gotham Narrow Book" pitchFamily="2" charset="0"/>
              </a:rPr>
              <a:t> in </a:t>
            </a:r>
            <a:r>
              <a:rPr lang="en-US" dirty="0" err="1">
                <a:latin typeface="Gotham Narrow Book" pitchFamily="2" charset="0"/>
              </a:rPr>
              <a:t>voluptate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velit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esse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cillum</a:t>
            </a:r>
            <a:r>
              <a:rPr lang="en-US" dirty="0">
                <a:latin typeface="Gotham Narrow Book" pitchFamily="2" charset="0"/>
              </a:rPr>
              <a:t> dolore </a:t>
            </a:r>
            <a:r>
              <a:rPr lang="en-US" dirty="0" err="1">
                <a:latin typeface="Gotham Narrow Book" pitchFamily="2" charset="0"/>
              </a:rPr>
              <a:t>eu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fugiat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nulla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pariature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When single image is necessary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Use this as a reference for appropriate style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Images. Images. Images.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1" y="1115395"/>
            <a:ext cx="3888509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093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635999" y="1115394"/>
            <a:ext cx="2975628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Use this slide for multiple images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If they absolutely require text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Otherwise, use next slide for multiples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71BB-6B97-9749-9D88-A5CC3B86D619}"/>
              </a:ext>
            </a:extLst>
          </p:cNvPr>
          <p:cNvSpPr/>
          <p:nvPr/>
        </p:nvSpPr>
        <p:spPr>
          <a:xfrm>
            <a:off x="988292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B83EF9-3F52-B145-A21A-EA0D8AC181A0}"/>
              </a:ext>
            </a:extLst>
          </p:cNvPr>
          <p:cNvSpPr/>
          <p:nvPr/>
        </p:nvSpPr>
        <p:spPr>
          <a:xfrm>
            <a:off x="4812146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877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2" y="1115395"/>
            <a:ext cx="6503917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E81E64-7A57-7845-BEE2-C07904F7A7D8}"/>
              </a:ext>
            </a:extLst>
          </p:cNvPr>
          <p:cNvSpPr/>
          <p:nvPr/>
        </p:nvSpPr>
        <p:spPr>
          <a:xfrm>
            <a:off x="7723117" y="1115395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7ECD11-F74C-3D42-8A2D-B2538B33996C}"/>
              </a:ext>
            </a:extLst>
          </p:cNvPr>
          <p:cNvSpPr/>
          <p:nvPr/>
        </p:nvSpPr>
        <p:spPr>
          <a:xfrm>
            <a:off x="7723116" y="3356368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21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E297CD-5450-7441-A033-60CDC02876B0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Last slide in each section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Last slide in each section</a:t>
            </a:r>
          </a:p>
        </p:txBody>
      </p:sp>
    </p:spTree>
    <p:extLst>
      <p:ext uri="{BB962C8B-B14F-4D97-AF65-F5344CB8AC3E}">
        <p14:creationId xmlns:p14="http://schemas.microsoft.com/office/powerpoint/2010/main" val="1663129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EE4DA18-37A0-3344-B583-9790FEFF58AA}"/>
              </a:ext>
            </a:extLst>
          </p:cNvPr>
          <p:cNvSpPr txBox="1"/>
          <p:nvPr/>
        </p:nvSpPr>
        <p:spPr>
          <a:xfrm>
            <a:off x="571500" y="2294175"/>
            <a:ext cx="11040127" cy="3077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O | </a:t>
            </a:r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C | </a:t>
            </a:r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E | </a:t>
            </a:r>
            <a:r>
              <a:rPr lang="en-US" sz="2400" dirty="0" err="1">
                <a:solidFill>
                  <a:srgbClr val="63666A"/>
                </a:solidFill>
                <a:latin typeface="Gotham Narrow Book" pitchFamily="2" charset="0"/>
              </a:rPr>
              <a:t>name.presenter@okstate.edu</a:t>
            </a:r>
            <a:endParaRPr lang="en-US" sz="2400" dirty="0">
              <a:solidFill>
                <a:srgbClr val="63666A"/>
              </a:solidFill>
              <a:latin typeface="Gotham Narrow Book" pitchFamily="2" charset="0"/>
            </a:endParaRPr>
          </a:p>
          <a:p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307 Whitehurst</a:t>
            </a:r>
          </a:p>
          <a:p>
            <a:endParaRPr lang="en-US" sz="2400" dirty="0">
              <a:solidFill>
                <a:schemeClr val="accent6"/>
              </a:solidFill>
              <a:latin typeface="Gotham Narrow Book" pitchFamily="2" charset="0"/>
            </a:endParaRPr>
          </a:p>
          <a:p>
            <a:r>
              <a:rPr lang="en-US" sz="2400" b="1" dirty="0" err="1">
                <a:solidFill>
                  <a:srgbClr val="FB6400"/>
                </a:solidFill>
                <a:latin typeface="Gotham Narrow Bold" pitchFamily="2" charset="0"/>
              </a:rPr>
              <a:t>brand.okstate.edu</a:t>
            </a:r>
            <a:r>
              <a:rPr lang="en-US" sz="2400" b="1" dirty="0">
                <a:solidFill>
                  <a:srgbClr val="FB6400"/>
                </a:solidFill>
                <a:latin typeface="Gotham Narrow Bold" pitchFamily="2" charset="0"/>
              </a:rPr>
              <a:t> (do not include http://www.)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E87CE4-7B09-1C4B-A222-C9D7591ECB9C}"/>
              </a:ext>
            </a:extLst>
          </p:cNvPr>
          <p:cNvSpPr txBox="1"/>
          <p:nvPr/>
        </p:nvSpPr>
        <p:spPr>
          <a:xfrm>
            <a:off x="584026" y="538619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300" dirty="0">
                <a:solidFill>
                  <a:srgbClr val="63666A"/>
                </a:solidFill>
                <a:latin typeface="FjallaOne" panose="02000506040000020004" pitchFamily="2" charset="77"/>
              </a:rPr>
              <a:t>NAME OF PRESENTER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472A1-9D64-6A42-AD56-94BD6B8EEEA3}"/>
              </a:ext>
            </a:extLst>
          </p:cNvPr>
          <p:cNvSpPr txBox="1"/>
          <p:nvPr/>
        </p:nvSpPr>
        <p:spPr>
          <a:xfrm>
            <a:off x="584026" y="1463179"/>
            <a:ext cx="1104012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FB6400"/>
                </a:solidFill>
                <a:latin typeface="Rubik" panose="02000604000000020004" pitchFamily="2" charset="-79"/>
                <a:cs typeface="Rubik" panose="02000604000000020004" pitchFamily="2" charset="-79"/>
              </a:rPr>
              <a:t>Department of …</a:t>
            </a:r>
          </a:p>
        </p:txBody>
      </p:sp>
    </p:spTree>
    <p:extLst>
      <p:ext uri="{BB962C8B-B14F-4D97-AF65-F5344CB8AC3E}">
        <p14:creationId xmlns:p14="http://schemas.microsoft.com/office/powerpoint/2010/main" val="3546150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 Point Template 2" id="{E7567C99-B98E-8A4B-A530-2F9B1CC5B8CF}" vid="{F10C8240-B11D-874B-8064-C9F59BD846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</TotalTime>
  <Words>735</Words>
  <Application>Microsoft Macintosh PowerPoint</Application>
  <PresentationFormat>Widescreen</PresentationFormat>
  <Paragraphs>61</Paragraphs>
  <Slides>10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1" baseType="lpstr">
      <vt:lpstr>Aptos</vt:lpstr>
      <vt:lpstr>Arial</vt:lpstr>
      <vt:lpstr>Calibri</vt:lpstr>
      <vt:lpstr>Calibri Light</vt:lpstr>
      <vt:lpstr>Cambria Math</vt:lpstr>
      <vt:lpstr>FjallaOne</vt:lpstr>
      <vt:lpstr>Gotham Narrow Bold</vt:lpstr>
      <vt:lpstr>Gotham Narrow Book</vt:lpstr>
      <vt:lpstr>Rubik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Classen, Codee S</dc:creator>
  <cp:lastModifiedBy>Quang-Nguyen Vo-Huynh</cp:lastModifiedBy>
  <cp:revision>35</cp:revision>
  <dcterms:created xsi:type="dcterms:W3CDTF">2019-10-03T19:20:41Z</dcterms:created>
  <dcterms:modified xsi:type="dcterms:W3CDTF">2025-04-03T21:53:01Z</dcterms:modified>
</cp:coreProperties>
</file>